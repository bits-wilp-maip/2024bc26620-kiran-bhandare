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4937760" cy="4937760"/>
          </a:xfrm>
          <a:prstGeom prst="ellipse">
            <a:avLst/>
          </a:prstGeom>
          <a:solidFill>
            <a:srgbClr val="263384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206240"/>
            <a:ext cx="3291840" cy="3291840"/>
          </a:xfrm>
          <a:prstGeom prst="ellipse">
            <a:avLst/>
          </a:prstGeom>
          <a:solidFill>
            <a:srgbClr val="263384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777240"/>
            <a:ext cx="777240" cy="777240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5" name="Image 0" descr="/tmp/capstone/pptx/icons/shield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069" y="870509"/>
            <a:ext cx="590702" cy="5907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2331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MBA ZG583  |  MANAGEMENT OF AI PRODUCTS — CAPSTONE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85800" y="26974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Compliance Evidence Collector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685800" y="370332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audit controls to evidence automatically — so IT teams stop scrambling during audit week.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85800" y="58064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Bhandare Kiran Arun Madhuri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2024BC26620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Submission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03504" cy="60350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/tmp/capstone/pptx/icons/aler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060" y="575340"/>
            <a:ext cx="458663" cy="4586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5720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325880" y="93268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evidence gathering is manual, scattered, and repeated every cycle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548640" y="15087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infrastructure and security teams must repeatedly prove — for ISO 27001, SOC 2, and internal governance reviews — that required safeguards are actually in place. Today that evidence is manually chased across disconnected systems, under time pressure, right before the audit window.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548640" y="2743200"/>
            <a:ext cx="3429000" cy="2331720"/>
          </a:xfrm>
          <a:prstGeom prst="roundRect">
            <a:avLst>
              <a:gd name="adj" fmla="val 3137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77240" y="306324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6+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777240" y="393192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disconnected systems evidence is scattered across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297680" y="2743200"/>
            <a:ext cx="3429000" cy="2331720"/>
          </a:xfrm>
          <a:prstGeom prst="roundRect">
            <a:avLst>
              <a:gd name="adj" fmla="val 3137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526280" y="306324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Days–Weeks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4526280" y="393192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typically spent assembling evidence per audit cycle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046720" y="2743200"/>
            <a:ext cx="3429000" cy="2331720"/>
          </a:xfrm>
          <a:prstGeom prst="roundRect">
            <a:avLst>
              <a:gd name="adj" fmla="val 3137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8275320" y="306324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#1</a:t>
            </a:r>
            <a:endParaRPr lang="en-US" sz="3200" dirty="0"/>
          </a:p>
        </p:txBody>
      </p:sp>
      <p:sp>
        <p:nvSpPr>
          <p:cNvPr id="15" name="Text 12"/>
          <p:cNvSpPr/>
          <p:nvPr/>
        </p:nvSpPr>
        <p:spPr>
          <a:xfrm>
            <a:off x="8275320" y="393192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of audit findings: missing or mismatched evidence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48640" y="5349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impact: delayed certifications enterprise customers require, wasted analyst time, and a process that doesn't scale as more frameworks and systems are added.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Compliance Evidence Collector  |  MBA ZG583 Capstone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03504" cy="60350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/tmp/capstone/pptx/icons/user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060" y="575340"/>
            <a:ext cx="458663" cy="4586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5720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User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325880" y="93268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this product is built for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5120640" cy="1920240"/>
          </a:xfrm>
          <a:prstGeom prst="roundRect">
            <a:avLst>
              <a:gd name="adj" fmla="val 3810"/>
            </a:avLst>
          </a:prstGeom>
          <a:solidFill>
            <a:srgbClr val="1E2761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1783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21031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Infrastructure Managers &amp;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GRC / Compliance Analysts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22960" y="29260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audit preparation and evidence collection for recurring audit cycles.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989320" y="1600200"/>
            <a:ext cx="5120640" cy="1920240"/>
          </a:xfrm>
          <a:prstGeom prst="roundRect">
            <a:avLst>
              <a:gd name="adj" fmla="val 3810"/>
            </a:avLst>
          </a:prstGeom>
          <a:solidFill>
            <a:srgbClr val="F4F6FB"/>
          </a:solidFill>
          <a:ln/>
        </p:spPr>
      </p:sp>
      <p:sp>
        <p:nvSpPr>
          <p:cNvPr id="11" name="Text 8"/>
          <p:cNvSpPr/>
          <p:nvPr/>
        </p:nvSpPr>
        <p:spPr>
          <a:xfrm>
            <a:off x="6263640" y="1783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97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263640" y="21031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Internal &amp; External Auditors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263640" y="29260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submitted evidence packages against control requirements.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48640" y="3977640"/>
            <a:ext cx="502920" cy="502920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15" name="Image 1" descr="/tmp/capstone/pptx/icons/target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990" y="4037990"/>
            <a:ext cx="382219" cy="382219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234440" y="40416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97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JOB-TO-BE-DONE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48640" y="461772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FBF3E4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868680" y="480060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I am preparing for a compliance audit cycle, </a:t>
            </a:r>
            <a:pPr indent="0" marL="0">
              <a:buNone/>
            </a:pPr>
            <a:r>
              <a:rPr lang="en-US" sz="1600" b="1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want to map required controls to the evidence I already have (or identify what's missing), </a:t>
            </a:r>
            <a:pPr indent="0" marL="0">
              <a:buNone/>
            </a:pPr>
            <a:r>
              <a:rPr lang="en-US" sz="160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that I can close evidence gaps early instead of scrambling during audit week.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Compliance Evidence Collector  |  MBA ZG583 Capstone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03504" cy="60350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/tmp/capstone/pptx/icons/branch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060" y="575340"/>
            <a:ext cx="458663" cy="4586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5720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325880" y="93268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control list to audit-ready evidence package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1556309" y="2212848"/>
            <a:ext cx="8866022" cy="0"/>
          </a:xfrm>
          <a:prstGeom prst="line">
            <a:avLst/>
          </a:prstGeom>
          <a:noFill/>
          <a:ln w="38100">
            <a:solidFill>
              <a:srgbClr val="CADCF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263701" y="1920240"/>
            <a:ext cx="585216" cy="585216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263701" y="19202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548640" y="2788920"/>
            <a:ext cx="2015338" cy="17373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</p:spPr>
      </p:sp>
      <p:sp>
        <p:nvSpPr>
          <p:cNvPr id="10" name="Text 7"/>
          <p:cNvSpPr/>
          <p:nvPr/>
        </p:nvSpPr>
        <p:spPr>
          <a:xfrm>
            <a:off x="685800" y="2926080"/>
            <a:ext cx="17410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 Framework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85800" y="3493008"/>
            <a:ext cx="174101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control list (e.g., ISO 27001 Annex A).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480206" y="1920240"/>
            <a:ext cx="585216" cy="585216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480206" y="19202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2765146" y="2788920"/>
            <a:ext cx="2015338" cy="17373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</p:spPr>
      </p:sp>
      <p:sp>
        <p:nvSpPr>
          <p:cNvPr id="15" name="Text 12"/>
          <p:cNvSpPr/>
          <p:nvPr/>
        </p:nvSpPr>
        <p:spPr>
          <a:xfrm>
            <a:off x="2902306" y="2926080"/>
            <a:ext cx="17410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 Evidence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2902306" y="3493008"/>
            <a:ext cx="174101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Upload/link configs, logs, policy docs.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696712" y="1920240"/>
            <a:ext cx="585216" cy="585216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696712" y="19202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4981651" y="2788920"/>
            <a:ext cx="2015338" cy="17373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</p:spPr>
      </p:sp>
      <p:sp>
        <p:nvSpPr>
          <p:cNvPr id="20" name="Text 17"/>
          <p:cNvSpPr/>
          <p:nvPr/>
        </p:nvSpPr>
        <p:spPr>
          <a:xfrm>
            <a:off x="5118811" y="2926080"/>
            <a:ext cx="17410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Matches &amp; Flags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5118811" y="3493008"/>
            <a:ext cx="174101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Confidence-scored matches; gaps surfaced first.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7913218" y="1920240"/>
            <a:ext cx="585216" cy="585216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913218" y="19202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Shape 21"/>
          <p:cNvSpPr/>
          <p:nvPr/>
        </p:nvSpPr>
        <p:spPr>
          <a:xfrm>
            <a:off x="7198157" y="2788920"/>
            <a:ext cx="2015338" cy="17373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</p:spPr>
      </p:sp>
      <p:sp>
        <p:nvSpPr>
          <p:cNvPr id="25" name="Text 22"/>
          <p:cNvSpPr/>
          <p:nvPr/>
        </p:nvSpPr>
        <p:spPr>
          <a:xfrm>
            <a:off x="7335317" y="2926080"/>
            <a:ext cx="17410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Reviews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7335317" y="3493008"/>
            <a:ext cx="174101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Accept, reject, or reassign every suggestion.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10129723" y="1920240"/>
            <a:ext cx="585216" cy="585216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0129723" y="19202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9" name="Shape 26"/>
          <p:cNvSpPr/>
          <p:nvPr/>
        </p:nvSpPr>
        <p:spPr>
          <a:xfrm>
            <a:off x="9414662" y="2788920"/>
            <a:ext cx="2015338" cy="17373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</p:spPr>
      </p:sp>
      <p:sp>
        <p:nvSpPr>
          <p:cNvPr id="30" name="Text 27"/>
          <p:cNvSpPr/>
          <p:nvPr/>
        </p:nvSpPr>
        <p:spPr>
          <a:xfrm>
            <a:off x="9551822" y="2926080"/>
            <a:ext cx="17410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Export Package</a:t>
            </a:r>
            <a:endParaRPr lang="en-US" sz="1350" dirty="0"/>
          </a:p>
        </p:txBody>
      </p:sp>
      <p:sp>
        <p:nvSpPr>
          <p:cNvPr id="31" name="Text 28"/>
          <p:cNvSpPr/>
          <p:nvPr/>
        </p:nvSpPr>
        <p:spPr>
          <a:xfrm>
            <a:off x="9551822" y="3493008"/>
            <a:ext cx="174101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summary ready for the audit binder.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548640" y="43434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B97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accelerates triage. A human sets every control's final audit-ready status.</a:t>
            </a:r>
            <a:endParaRPr lang="en-US" sz="1350" dirty="0"/>
          </a:p>
        </p:txBody>
      </p:sp>
      <p:sp>
        <p:nvSpPr>
          <p:cNvPr id="33" name="Shape 30"/>
          <p:cNvSpPr/>
          <p:nvPr/>
        </p:nvSpPr>
        <p:spPr>
          <a:xfrm>
            <a:off x="548640" y="502920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1E2761"/>
          </a:solidFill>
          <a:ln/>
        </p:spPr>
      </p:sp>
      <p:sp>
        <p:nvSpPr>
          <p:cNvPr id="34" name="Text 31"/>
          <p:cNvSpPr/>
          <p:nvPr/>
        </p:nvSpPr>
        <p:spPr>
          <a:xfrm>
            <a:off x="822960" y="5029200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Concept: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copilot that maps required audit controls to existing evidence, flags gaps automatically, and drafts evidence summaries for auditor review.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Compliance Evidence Collector  |  MBA ZG583 Capstone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03504" cy="60350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/tmp/capstone/pptx/icons/cpu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060" y="575340"/>
            <a:ext cx="458663" cy="4586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5720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AI — Not a Static Checklist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325880" y="93268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Control-to-evidence matching is a reasoning task, not a lookup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5257800" cy="3931920"/>
          </a:xfrm>
          <a:prstGeom prst="roundRect">
            <a:avLst>
              <a:gd name="adj" fmla="val 1860"/>
            </a:avLst>
          </a:prstGeom>
          <a:solidFill>
            <a:srgbClr val="F4F6FB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196596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CHECKLIST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22960" y="2468880"/>
            <a:ext cx="4709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exact keyword/format matches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when evidence format varies system to system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explain a match's reasoning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Re-authored by hand for every new framework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172200" y="1737360"/>
            <a:ext cx="5257800" cy="3931920"/>
          </a:xfrm>
          <a:prstGeom prst="roundRect">
            <a:avLst>
              <a:gd name="adj" fmla="val 1860"/>
            </a:avLst>
          </a:prstGeom>
          <a:solidFill>
            <a:srgbClr val="1E2761"/>
          </a:solidFill>
          <a:ln/>
        </p:spPr>
      </p:sp>
      <p:sp>
        <p:nvSpPr>
          <p:cNvPr id="10" name="Text 7"/>
          <p:cNvSpPr/>
          <p:nvPr/>
        </p:nvSpPr>
        <p:spPr>
          <a:xfrm>
            <a:off x="6446520" y="196596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MATCHING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46520" y="2468880"/>
            <a:ext cx="4709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unstructured evidence (configs, logs, policy text) for intent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varied formats across systems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 plain-language rationale per match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suggestion still requires human sign-off before audit submission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Compliance Evidence Collector  |  MBA ZG583 Capstone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03504" cy="60350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/tmp/capstone/pptx/icons/targe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060" y="575340"/>
            <a:ext cx="458663" cy="4586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5720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Opportunity Matrix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325880" y="93268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focus first</a:t>
            </a:r>
            <a:endParaRPr lang="en-US" sz="13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0881360" cy="914400"/>
        </p:xfrm>
        <a:graphic>
          <a:graphicData uri="http://schemas.openxmlformats.org/drawingml/2006/table">
            <a:tbl>
              <a:tblPr/>
              <a:tblGrid>
                <a:gridCol w="5120640"/>
                <a:gridCol w="2103120"/>
                <a:gridCol w="2103120"/>
                <a:gridCol w="15544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Value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Feasibility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Control-to-evidence matching (core)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 flagging + summary drafting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Multi-framework support (SOC 2, ISO, internal)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Auditor-facing review portal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(later)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461772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B97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Wedge: one framework (ISO 27001 Annex A), one evidence type (access-control + patch logs), one team's audit prep — prove the loop before expanding.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Compliance Evidence Collector  |  MBA ZG583 Capstone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03504" cy="60350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/tmp/capstone/pptx/icons/ey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060" y="575340"/>
            <a:ext cx="458663" cy="4586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5720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UX &amp; Trust Design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325880" y="93268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suggestion is explainable and human-reviewed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3429000" cy="2286000"/>
          </a:xfrm>
          <a:prstGeom prst="roundRect">
            <a:avLst>
              <a:gd name="adj" fmla="val 3200"/>
            </a:avLst>
          </a:prstGeom>
          <a:solidFill>
            <a:srgbClr val="F4F6FB"/>
          </a:solidFill>
          <a:ln/>
        </p:spPr>
      </p:sp>
      <p:sp>
        <p:nvSpPr>
          <p:cNvPr id="7" name="Shape 4"/>
          <p:cNvSpPr/>
          <p:nvPr/>
        </p:nvSpPr>
        <p:spPr>
          <a:xfrm>
            <a:off x="777240" y="1920240"/>
            <a:ext cx="1737360" cy="411480"/>
          </a:xfrm>
          <a:prstGeom prst="roundRect">
            <a:avLst>
              <a:gd name="adj" fmla="val 48889"/>
            </a:avLst>
          </a:prstGeom>
          <a:solidFill>
            <a:srgbClr val="1E7A4C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19202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77240" y="256032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Pre-filled, still needs one-click human approval before status changes.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297680" y="1691640"/>
            <a:ext cx="3429000" cy="2286000"/>
          </a:xfrm>
          <a:prstGeom prst="roundRect">
            <a:avLst>
              <a:gd name="adj" fmla="val 3200"/>
            </a:avLst>
          </a:prstGeom>
          <a:solidFill>
            <a:srgbClr val="F4F6FB"/>
          </a:solidFill>
          <a:ln/>
        </p:spPr>
      </p:sp>
      <p:sp>
        <p:nvSpPr>
          <p:cNvPr id="11" name="Shape 8"/>
          <p:cNvSpPr/>
          <p:nvPr/>
        </p:nvSpPr>
        <p:spPr>
          <a:xfrm>
            <a:off x="4526280" y="1920240"/>
            <a:ext cx="1737360" cy="411480"/>
          </a:xfrm>
          <a:prstGeom prst="roundRect">
            <a:avLst>
              <a:gd name="adj" fmla="val 48889"/>
            </a:avLst>
          </a:prstGeom>
          <a:solidFill>
            <a:srgbClr val="B9761F"/>
          </a:solidFill>
          <a:ln/>
        </p:spPr>
      </p:sp>
      <p:sp>
        <p:nvSpPr>
          <p:cNvPr id="12" name="Text 9"/>
          <p:cNvSpPr/>
          <p:nvPr/>
        </p:nvSpPr>
        <p:spPr>
          <a:xfrm>
            <a:off x="4526280" y="19202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REVIEW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26280" y="256032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Below-confidence suggestion shown with rationale, not hidden.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046720" y="1691640"/>
            <a:ext cx="3429000" cy="2286000"/>
          </a:xfrm>
          <a:prstGeom prst="roundRect">
            <a:avLst>
              <a:gd name="adj" fmla="val 3200"/>
            </a:avLst>
          </a:prstGeom>
          <a:solidFill>
            <a:srgbClr val="F4F6FB"/>
          </a:solidFill>
          <a:ln/>
        </p:spPr>
      </p:sp>
      <p:sp>
        <p:nvSpPr>
          <p:cNvPr id="15" name="Shape 12"/>
          <p:cNvSpPr/>
          <p:nvPr/>
        </p:nvSpPr>
        <p:spPr>
          <a:xfrm>
            <a:off x="8275320" y="1920240"/>
            <a:ext cx="1737360" cy="411480"/>
          </a:xfrm>
          <a:prstGeom prst="roundRect">
            <a:avLst>
              <a:gd name="adj" fmla="val 48889"/>
            </a:avLst>
          </a:prstGeom>
          <a:solidFill>
            <a:srgbClr val="B03A2E"/>
          </a:solidFill>
          <a:ln/>
        </p:spPr>
      </p:sp>
      <p:sp>
        <p:nvSpPr>
          <p:cNvPr id="16" name="Text 13"/>
          <p:cNvSpPr/>
          <p:nvPr/>
        </p:nvSpPr>
        <p:spPr>
          <a:xfrm>
            <a:off x="8275320" y="19202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275320" y="256032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credible candidate found — routed to the gap queue, owner assigned.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548640" y="42519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always visible: the source evidence excerpt behind every AI suggestion — never a bare confidence number.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48640" y="47548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Human-in-the-Loop: the AI accelerates triage. It never sets a control's final audit-ready status unsupervised.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Compliance Evidence Collector  |  MBA ZG583 Capstone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03504" cy="60350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/tmp/capstone/pptx/icons/ma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060" y="575340"/>
            <a:ext cx="458663" cy="4586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5720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325880" y="93268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→ Pilot → Scale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3429000" cy="2606040"/>
          </a:xfrm>
          <a:prstGeom prst="roundRect">
            <a:avLst>
              <a:gd name="adj" fmla="val 2807"/>
            </a:avLst>
          </a:prstGeom>
          <a:solidFill>
            <a:srgbClr val="1E2761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02996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CAPSTONE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77240" y="233172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 — Prototype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77240" y="301752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framework, synthetic evidence set, core matching + review loop.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297680" y="1828800"/>
            <a:ext cx="3429000" cy="2606040"/>
          </a:xfrm>
          <a:prstGeom prst="roundRect">
            <a:avLst>
              <a:gd name="adj" fmla="val 2807"/>
            </a:avLst>
          </a:prstGeom>
          <a:solidFill>
            <a:srgbClr val="F4F6FB"/>
          </a:solidFill>
          <a:ln/>
        </p:spPr>
      </p:sp>
      <p:sp>
        <p:nvSpPr>
          <p:cNvPr id="11" name="Text 8"/>
          <p:cNvSpPr/>
          <p:nvPr/>
        </p:nvSpPr>
        <p:spPr>
          <a:xfrm>
            <a:off x="4526280" y="202996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B97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526280" y="233172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 — Pilot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26280" y="301752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real audit cycle, one team, real evidence, human review on every output; measure time saved.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046720" y="1828800"/>
            <a:ext cx="3429000" cy="2606040"/>
          </a:xfrm>
          <a:prstGeom prst="roundRect">
            <a:avLst>
              <a:gd name="adj" fmla="val 2807"/>
            </a:avLst>
          </a:prstGeom>
          <a:solidFill>
            <a:srgbClr val="F4F6FB"/>
          </a:solidFill>
          <a:ln/>
        </p:spPr>
      </p:sp>
      <p:sp>
        <p:nvSpPr>
          <p:cNvPr id="15" name="Text 12"/>
          <p:cNvSpPr/>
          <p:nvPr/>
        </p:nvSpPr>
        <p:spPr>
          <a:xfrm>
            <a:off x="8275320" y="202996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B97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8275320" y="233172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3 — Scale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8275320" y="301752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frameworks, live system connectors, auditor-facing review portal.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B97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METRICS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48640" y="5029200"/>
            <a:ext cx="108813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first complete control-evidence mapping per cycle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findings from missing/mismatched evidence (trend down)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override rate on AI suggestions (tracked, not minimized to zero)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Compliance Evidence Collector  |  MBA ZG583 Capstone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03504" cy="60350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/tmp/capstone/pptx/icons/dolla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060" y="575340"/>
            <a:ext cx="458663" cy="4586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5720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Case &amp; Key Risks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325880" y="93268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Value, cost drivers, and how risk is managed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5257800" cy="4023360"/>
          </a:xfrm>
          <a:prstGeom prst="roundRect">
            <a:avLst>
              <a:gd name="adj" fmla="val 1818"/>
            </a:avLst>
          </a:prstGeom>
          <a:solidFill>
            <a:srgbClr val="F4F6FB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192024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CASE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22960" y="2377440"/>
            <a:ext cx="4709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 of analyst-hours per audit cycle currently spent on manual evidence search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 design (retrieval, then LLM judgment) keeps API cost modest — a small fraction of analyst time saved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time shifts from searching to judging — higher-value work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172200" y="1691640"/>
            <a:ext cx="5257800" cy="4023360"/>
          </a:xfrm>
          <a:prstGeom prst="roundRect">
            <a:avLst>
              <a:gd name="adj" fmla="val 1818"/>
            </a:avLst>
          </a:prstGeom>
          <a:solidFill>
            <a:srgbClr val="FDECEA"/>
          </a:solidFill>
          <a:ln/>
        </p:spPr>
      </p:sp>
      <p:sp>
        <p:nvSpPr>
          <p:cNvPr id="10" name="Text 7"/>
          <p:cNvSpPr/>
          <p:nvPr/>
        </p:nvSpPr>
        <p:spPr>
          <a:xfrm>
            <a:off x="6446520" y="192024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 &amp; MITIGATION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46520" y="2377440"/>
            <a:ext cx="4709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sufficiency → mandatory human accept before status change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over-trust → override rate tracked, near-zero treated as a warning sign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evidence exposure → redacted excerpts, access-restricted, enterprise data-processing agreement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Compliance Evidence Collector  |  MBA ZG583 Capstone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4572000" cy="4572000"/>
          </a:xfrm>
          <a:prstGeom prst="ellipse">
            <a:avLst/>
          </a:prstGeom>
          <a:solidFill>
            <a:srgbClr val="263384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685800"/>
            <a:ext cx="685800" cy="685800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4" name="Image 0" descr="/tmp/capstone/pptx/icons/check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768096"/>
            <a:ext cx="521208" cy="5212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1554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85800" y="19202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Prototype now. Pilot next.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685800" y="2880360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narrow MVP against ISO 27001 Annex A with a small evidence set to prove the matching and gap-flagging logic is accurate and explainable enough to trust — then pilot with one team's real audit cycle before scaling to more frameworks.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85800" y="4251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I'M ASKING FOR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85800" y="4617720"/>
            <a:ext cx="9875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on framework/evidence scope for the pilot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a team willing to pilot next cycle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on data-handling requirements for evidence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85800" y="6172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Bhandare Kiran Arun Madhuri  |  2024BC26620  |  Thank you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2026-08-18T16:26:27Z</dcterms:created>
  <dcterms:modified xsi:type="dcterms:W3CDTF">2026-08-18T16:26:27Z</dcterms:modified>
</cp:coreProperties>
</file>